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45700" cy="15554325"/>
  <p:notesSz cx="6858000" cy="9144000"/>
  <p:defaultTextStyle>
    <a:defPPr>
      <a:defRPr lang="es-VE"/>
    </a:defPPr>
    <a:lvl1pPr marL="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429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2857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286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5714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143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8571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00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1428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3430" y="4831926"/>
            <a:ext cx="8538845" cy="333409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6858" y="8814119"/>
            <a:ext cx="7031990" cy="39749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2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4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9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12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34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57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79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2D01FC-0025-4FA3-946F-2204CE555972}" type="datetimeFigureOut">
              <a:rPr lang="es-VE" altLang="es-VE"/>
              <a:pPr/>
              <a:t>3/3/2026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9C5D1D-FDBB-48E2-858A-8E19487585F5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88815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501650" y="622300"/>
            <a:ext cx="904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501650" y="3629025"/>
            <a:ext cx="9042400" cy="1026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01650" y="14416088"/>
            <a:ext cx="2344738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DA8898B-76CB-4B55-B655-3233B63DAA7C}" type="datetimeFigureOut">
              <a:rPr lang="es-VE" altLang="es-VE"/>
              <a:pPr/>
              <a:t>3/3/2026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432175" y="14416088"/>
            <a:ext cx="3181350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199313" y="14416088"/>
            <a:ext cx="2344737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CD2E7E6-C7B5-4321-A946-432BDB843D0E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63073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43038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2pPr>
      <a:lvl3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3pPr>
      <a:lvl4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4pPr>
      <a:lvl5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5pPr>
      <a:lvl6pPr marL="396438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6pPr>
      <a:lvl7pPr marL="792876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7pPr>
      <a:lvl8pPr marL="1189314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8pPr>
      <a:lvl9pPr marL="1585752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9pPr>
    </p:titleStyle>
    <p:bodyStyle>
      <a:lvl1pPr marL="539750" indent="-5397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1575" indent="-4508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4988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57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496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73579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9604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1851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40985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2469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4938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7407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9875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12344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34813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7282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975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469900"/>
            <a:ext cx="9558338" cy="146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10 CuadroTexto"/>
          <p:cNvSpPr txBox="1">
            <a:spLocks noChangeArrowheads="1"/>
          </p:cNvSpPr>
          <p:nvPr/>
        </p:nvSpPr>
        <p:spPr bwMode="auto">
          <a:xfrm>
            <a:off x="0" y="7499350"/>
            <a:ext cx="100457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600">
                <a:latin typeface="Arial Black" pitchFamily="34" charset="0"/>
              </a:rPr>
              <a:t>ORGANIZACIÓN  GOJYU RYU  KARATE DO                                                                                 DE VENEZUELA                                                                                              </a:t>
            </a:r>
            <a:r>
              <a:rPr lang="es-VE" altLang="es-VE" sz="3100">
                <a:latin typeface="Arial Black" pitchFamily="34" charset="0"/>
              </a:rPr>
              <a:t>O.G.K.V.</a:t>
            </a:r>
          </a:p>
        </p:txBody>
      </p:sp>
      <p:sp>
        <p:nvSpPr>
          <p:cNvPr id="37" name="36 Rectángulo"/>
          <p:cNvSpPr/>
          <p:nvPr/>
        </p:nvSpPr>
        <p:spPr>
          <a:xfrm>
            <a:off x="3875088" y="0"/>
            <a:ext cx="2235200" cy="2390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88" tIns="39644" rIns="79288" bIns="39644" anchor="ctr"/>
          <a:lstStyle/>
          <a:p>
            <a:pPr algn="ctr" eaLnBrk="1" hangingPunct="1"/>
            <a:endParaRPr lang="es-VE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5125" name="78 CuadroTexto"/>
          <p:cNvSpPr txBox="1">
            <a:spLocks noChangeArrowheads="1"/>
          </p:cNvSpPr>
          <p:nvPr/>
        </p:nvSpPr>
        <p:spPr bwMode="auto">
          <a:xfrm>
            <a:off x="0" y="8845550"/>
            <a:ext cx="100457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800">
                <a:latin typeface="Lucida Calligraphy" pitchFamily="66" charset="0"/>
              </a:rPr>
              <a:t>Certifica Que:</a:t>
            </a:r>
          </a:p>
        </p:txBody>
      </p:sp>
      <p:sp>
        <p:nvSpPr>
          <p:cNvPr id="5126" name="20 CuadroTexto"/>
          <p:cNvSpPr txBox="1">
            <a:spLocks noChangeArrowheads="1"/>
          </p:cNvSpPr>
          <p:nvPr/>
        </p:nvSpPr>
        <p:spPr bwMode="auto">
          <a:xfrm>
            <a:off x="1077913" y="10201275"/>
            <a:ext cx="7977187" cy="155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>
                <a:latin typeface="Times New Roman" pitchFamily="18" charset="0"/>
                <a:cs typeface="Times New Roman" pitchFamily="18" charset="0"/>
              </a:rPr>
              <a:t>Ha presentado satisfactoriamente su examen reglamentario, demostrando gran aplicación en el aprendizaje del                   </a:t>
            </a:r>
            <a:r>
              <a:rPr lang="es-VE" altLang="es-VE" sz="2400" b="1" i="1">
                <a:latin typeface="Times New Roman" pitchFamily="18" charset="0"/>
                <a:cs typeface="Times New Roman" pitchFamily="18" charset="0"/>
              </a:rPr>
              <a:t>Karate - Do </a:t>
            </a:r>
            <a:r>
              <a:rPr lang="es-VE" altLang="es-VE" sz="2400" i="1">
                <a:latin typeface="Times New Roman" pitchFamily="18" charset="0"/>
                <a:cs typeface="Times New Roman" pitchFamily="18" charset="0"/>
              </a:rPr>
              <a:t>estilo </a:t>
            </a:r>
            <a:r>
              <a:rPr lang="es-VE" altLang="es-VE" sz="2400" b="1" i="1">
                <a:latin typeface="Times New Roman" pitchFamily="18" charset="0"/>
                <a:cs typeface="Times New Roman" pitchFamily="18" charset="0"/>
              </a:rPr>
              <a:t>Okinawa Gojyu - Ryu </a:t>
            </a:r>
            <a:r>
              <a:rPr lang="es-VE" altLang="es-VE" sz="2400" i="1">
                <a:latin typeface="Times New Roman" pitchFamily="18" charset="0"/>
                <a:cs typeface="Times New Roman" pitchFamily="18" charset="0"/>
              </a:rPr>
              <a:t>y en Virtud de su progreso se le otorga el grado de: </a:t>
            </a:r>
            <a:r>
              <a:rPr lang="es-VE" altLang="es-VE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Cinturón Azul 3° Kyu.</a:t>
            </a:r>
            <a:endParaRPr lang="es-VE" altLang="es-VE" sz="2400" i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7" name="74 Rectángulo"/>
          <p:cNvSpPr>
            <a:spLocks noChangeArrowheads="1"/>
          </p:cNvSpPr>
          <p:nvPr/>
        </p:nvSpPr>
        <p:spPr bwMode="auto">
          <a:xfrm>
            <a:off x="6394450" y="11857038"/>
            <a:ext cx="295116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Puerto Ordaz, </a:t>
            </a:r>
            <a:r>
              <a:rPr lang="es-ES" altLang="es-VE" sz="1700" i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s-VE" altLang="ja-JP" sz="1700" i="1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s-VE" altLang="ja-JP" sz="1700" i="1">
                <a:latin typeface="Times New Roman" pitchFamily="18" charset="0"/>
              </a:rPr>
              <a:t>12</a:t>
            </a:r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/2025</a:t>
            </a:r>
          </a:p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 </a:t>
            </a:r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s-VE" altLang="ja-JP" sz="1700" i="1">
                <a:solidFill>
                  <a:srgbClr val="FF0000"/>
                </a:solidFill>
                <a:latin typeface="Times New Roman" pitchFamily="18" charset="0"/>
              </a:rPr>
              <a:t>79</a:t>
            </a:r>
            <a:endParaRPr lang="es-VE" altLang="es-VE"/>
          </a:p>
        </p:txBody>
      </p:sp>
      <p:sp>
        <p:nvSpPr>
          <p:cNvPr id="75" name="74 CuadroTexto"/>
          <p:cNvSpPr txBox="1"/>
          <p:nvPr/>
        </p:nvSpPr>
        <p:spPr>
          <a:xfrm>
            <a:off x="5454898" y="2307256"/>
            <a:ext cx="938158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剛柔流空手道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78" name="77 CuadroTexto"/>
          <p:cNvSpPr txBox="1"/>
          <p:nvPr/>
        </p:nvSpPr>
        <p:spPr>
          <a:xfrm>
            <a:off x="6246986" y="2299098"/>
            <a:ext cx="938158" cy="450759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右者沖縄伝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130" name="78 CuadroTexto"/>
          <p:cNvSpPr txBox="1">
            <a:spLocks noChangeArrowheads="1"/>
          </p:cNvSpPr>
          <p:nvPr/>
        </p:nvSpPr>
        <p:spPr bwMode="auto">
          <a:xfrm>
            <a:off x="4806950" y="2451100"/>
            <a:ext cx="960438" cy="47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5200">
                <a:latin typeface="EPSON 太行書体Ｂ" pitchFamily="65" charset="-128"/>
                <a:ea typeface="EPSON 太行書体Ｂ" pitchFamily="65" charset="-128"/>
              </a:rPr>
              <a:t>三級二允許ス</a:t>
            </a:r>
            <a:endParaRPr lang="es-VE" altLang="es-VE" sz="52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131" name="80 CuadroTexto"/>
          <p:cNvSpPr txBox="1">
            <a:spLocks noChangeArrowheads="1"/>
          </p:cNvSpPr>
          <p:nvPr/>
        </p:nvSpPr>
        <p:spPr bwMode="auto">
          <a:xfrm>
            <a:off x="4125913" y="2368550"/>
            <a:ext cx="836612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4400">
                <a:latin typeface="EPSON 太行書体Ｂ" pitchFamily="65" charset="-128"/>
                <a:ea typeface="EPSON 太行書体Ｂ" pitchFamily="65" charset="-128"/>
              </a:rPr>
              <a:t>ベネズエラ剛柔流</a:t>
            </a:r>
            <a:endParaRPr lang="es-VE" altLang="es-VE" sz="44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3340308" y="2438935"/>
            <a:ext cx="818446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dirty="0">
                <a:latin typeface="EPSON 太行書体Ｂ" pitchFamily="65" charset="-128"/>
                <a:ea typeface="EPSON 太行書体Ｂ" pitchFamily="65" charset="-128"/>
              </a:rPr>
              <a:t>空手道協会</a:t>
            </a:r>
            <a:endParaRPr lang="es-VE" sz="44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1530809" y="2047100"/>
            <a:ext cx="683729" cy="6666166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ベルデウイリアン師範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990402" y="2045149"/>
            <a:ext cx="683729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ベラスケスセサル先生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3" name="32 Rectángulo"/>
          <p:cNvSpPr/>
          <p:nvPr/>
        </p:nvSpPr>
        <p:spPr>
          <a:xfrm>
            <a:off x="8407226" y="2117386"/>
            <a:ext cx="432048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>
                <a:ln w="6350">
                  <a:solidFill>
                    <a:schemeClr val="tx1"/>
                  </a:solidFill>
                </a:ln>
                <a:latin typeface="EPSON 太行書体Ｂ" pitchFamily="65" charset="-128"/>
                <a:ea typeface="EPSON 太行書体Ｂ" pitchFamily="65" charset="-128"/>
              </a:rPr>
              <a:t>第一四七九号</a:t>
            </a:r>
            <a:r>
              <a:rPr lang="ja-JP" altLang="es-VE" sz="2800" dirty="0">
                <a:ln w="6350">
                  <a:solidFill>
                    <a:schemeClr val="tx1"/>
                  </a:solidFill>
                </a:ln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schemeClr val="tx1"/>
                </a:solidFill>
              </a:ln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7903170" y="4152194"/>
            <a:ext cx="642942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8000" dirty="0">
                <a:ln w="6350">
                  <a:solidFill>
                    <a:schemeClr val="tx1"/>
                  </a:solidFill>
                </a:ln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8000" dirty="0">
              <a:ln w="6350">
                <a:solidFill>
                  <a:schemeClr val="tx1"/>
                </a:solidFill>
              </a:ln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5137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88" y="12145963"/>
            <a:ext cx="12001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8" name="20 CuadroTexto"/>
          <p:cNvSpPr txBox="1">
            <a:spLocks noChangeArrowheads="1"/>
          </p:cNvSpPr>
          <p:nvPr/>
        </p:nvSpPr>
        <p:spPr bwMode="auto">
          <a:xfrm>
            <a:off x="0" y="9112250"/>
            <a:ext cx="100457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it-IT" altLang="ja-JP" sz="480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Rubelis D. Ortiz C.</a:t>
            </a:r>
            <a:endParaRPr lang="es-VE" altLang="ja-JP" sz="4800">
              <a:solidFill>
                <a:srgbClr val="FF0000"/>
              </a:solidFill>
              <a:latin typeface="Old English Text MT" pitchFamily="66" charset="0"/>
              <a:cs typeface="Times New Roman" pitchFamily="18" charset="0"/>
            </a:endParaRPr>
          </a:p>
        </p:txBody>
      </p:sp>
      <p:sp>
        <p:nvSpPr>
          <p:cNvPr id="5139" name="88 CuadroTexto"/>
          <p:cNvSpPr txBox="1">
            <a:spLocks noChangeArrowheads="1"/>
          </p:cNvSpPr>
          <p:nvPr/>
        </p:nvSpPr>
        <p:spPr bwMode="auto">
          <a:xfrm>
            <a:off x="7127875" y="1584325"/>
            <a:ext cx="774700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ja-JP" altLang="es-VE" sz="4000">
                <a:latin typeface="EPSON 太行書体Ｂ" pitchFamily="65" charset="-128"/>
                <a:ea typeface="EPSON 太行書体Ｂ" pitchFamily="65" charset="-128"/>
              </a:rPr>
              <a:t>オルテズ　ルベリス</a:t>
            </a:r>
            <a:endParaRPr lang="es-VE" altLang="ja-JP" sz="40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4" name="43 CuadroTexto"/>
          <p:cNvSpPr txBox="1"/>
          <p:nvPr/>
        </p:nvSpPr>
        <p:spPr>
          <a:xfrm>
            <a:off x="2054871" y="3024634"/>
            <a:ext cx="758558" cy="3525667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000" spc="-300" dirty="0">
                <a:latin typeface="EPSON 太行書体Ｂ" pitchFamily="65" charset="-128"/>
                <a:ea typeface="EPSON 太行書体Ｂ" pitchFamily="65" charset="-128"/>
              </a:rPr>
              <a:t>緑</a:t>
            </a:r>
            <a:r>
              <a:rPr lang="ja-JP" altLang="es-ES" sz="4000" spc="-300" dirty="0">
                <a:latin typeface="EPSON 太行書体Ｂ" pitchFamily="65" charset="-128"/>
                <a:ea typeface="EPSON 太行書体Ｂ" pitchFamily="65" charset="-128"/>
              </a:rPr>
              <a:t>と</a:t>
            </a:r>
            <a:r>
              <a:rPr lang="ja-JP" altLang="es-VE" sz="4000" spc="-300" dirty="0">
                <a:latin typeface="EPSON 太行書体Ｂ" pitchFamily="65" charset="-128"/>
                <a:ea typeface="EPSON 太行書体Ｂ" pitchFamily="65" charset="-128"/>
              </a:rPr>
              <a:t>砕破道場</a:t>
            </a:r>
            <a:endParaRPr lang="es-VE" sz="4000" spc="-3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141" name="6 Rectángulo"/>
          <p:cNvSpPr>
            <a:spLocks noChangeArrowheads="1"/>
          </p:cNvSpPr>
          <p:nvPr/>
        </p:nvSpPr>
        <p:spPr bwMode="auto">
          <a:xfrm>
            <a:off x="1601788" y="14035088"/>
            <a:ext cx="241141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Director Técnico de la O.G.K.V</a:t>
            </a:r>
          </a:p>
        </p:txBody>
      </p:sp>
      <p:cxnSp>
        <p:nvCxnSpPr>
          <p:cNvPr id="46" name="45 Conector recto"/>
          <p:cNvCxnSpPr/>
          <p:nvPr/>
        </p:nvCxnSpPr>
        <p:spPr>
          <a:xfrm>
            <a:off x="1538288" y="13828713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3" name="4 Rectángulo"/>
          <p:cNvSpPr>
            <a:spLocks noChangeArrowheads="1"/>
          </p:cNvSpPr>
          <p:nvPr/>
        </p:nvSpPr>
        <p:spPr bwMode="auto">
          <a:xfrm>
            <a:off x="1658938" y="13860463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César Velásquez</a:t>
            </a:r>
          </a:p>
        </p:txBody>
      </p:sp>
      <p:sp>
        <p:nvSpPr>
          <p:cNvPr id="5144" name="6 Rectángulo"/>
          <p:cNvSpPr>
            <a:spLocks noChangeArrowheads="1"/>
          </p:cNvSpPr>
          <p:nvPr/>
        </p:nvSpPr>
        <p:spPr bwMode="auto">
          <a:xfrm>
            <a:off x="5930900" y="14035088"/>
            <a:ext cx="261461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Instructor Dojo Midori &amp; Saifa</a:t>
            </a:r>
          </a:p>
        </p:txBody>
      </p:sp>
      <p:cxnSp>
        <p:nvCxnSpPr>
          <p:cNvPr id="49" name="48 Conector recto"/>
          <p:cNvCxnSpPr/>
          <p:nvPr/>
        </p:nvCxnSpPr>
        <p:spPr>
          <a:xfrm>
            <a:off x="5930900" y="13828713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6" name="4 Rectángulo"/>
          <p:cNvSpPr>
            <a:spLocks noChangeArrowheads="1"/>
          </p:cNvSpPr>
          <p:nvPr/>
        </p:nvSpPr>
        <p:spPr bwMode="auto">
          <a:xfrm>
            <a:off x="6051550" y="13860463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Marbelys Vargas</a:t>
            </a:r>
          </a:p>
        </p:txBody>
      </p:sp>
      <p:sp>
        <p:nvSpPr>
          <p:cNvPr id="5147" name="82 CuadroTexto"/>
          <p:cNvSpPr txBox="1">
            <a:spLocks noChangeArrowheads="1"/>
          </p:cNvSpPr>
          <p:nvPr/>
        </p:nvSpPr>
        <p:spPr bwMode="auto">
          <a:xfrm>
            <a:off x="2965450" y="3240088"/>
            <a:ext cx="468313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2000">
                <a:latin typeface="EPSON 太行書体Ｂ" pitchFamily="65" charset="-128"/>
                <a:ea typeface="EPSON 太行書体Ｂ" pitchFamily="65" charset="-128"/>
              </a:rPr>
              <a:t>二〇二五年十二月二十日</a:t>
            </a:r>
            <a:endParaRPr lang="es-VE" altLang="es-VE" sz="20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148" name="88 CuadroTexto"/>
          <p:cNvSpPr txBox="1">
            <a:spLocks noChangeArrowheads="1"/>
          </p:cNvSpPr>
          <p:nvPr/>
        </p:nvSpPr>
        <p:spPr bwMode="auto">
          <a:xfrm>
            <a:off x="7388225" y="3494088"/>
            <a:ext cx="530225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ja-JP" altLang="es-VE" sz="2400">
                <a:latin typeface="EPSON 太行書体Ｂ" pitchFamily="65" charset="-128"/>
                <a:ea typeface="EPSON 太行書体Ｂ" pitchFamily="65" charset="-128"/>
              </a:rPr>
              <a:t>イ　</a:t>
            </a:r>
            <a:endParaRPr lang="es-VE" altLang="ja-JP" sz="2400"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5149" name="1 Imagen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2575"/>
            <a:ext cx="19685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948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9362</TotalTime>
  <Words>163</Words>
  <Application>Microsoft Office PowerPoint</Application>
  <PresentationFormat>Personalizado</PresentationFormat>
  <Paragraphs>23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OGKV</dc:title>
  <dc:creator>César Velásquez</dc:creator>
  <dc:description/>
  <cp:lastModifiedBy>CD y JM</cp:lastModifiedBy>
  <cp:revision>567</cp:revision>
  <cp:lastPrinted>2025-12-20T03:06:34Z</cp:lastPrinted>
  <dcterms:created xsi:type="dcterms:W3CDTF">2009-07-25T14:43:43Z</dcterms:created>
  <dcterms:modified xsi:type="dcterms:W3CDTF">2026-03-03T13:30:17Z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Certificado OGKV</vt:lpwstr>
  </property>
  <property fmtid="{D5CDD505-2E9C-101B-9397-08002B2CF9AE}" pid="3" name="SlideDescription">
    <vt:lpwstr/>
  </property>
</Properties>
</file>