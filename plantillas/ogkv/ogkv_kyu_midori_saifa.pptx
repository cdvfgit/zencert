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045700" cy="15554325"/>
  <p:notesSz cx="6858000" cy="9144000"/>
  <p:defaultTextStyle>
    <a:defPPr>
      <a:defRPr lang="es-VE"/>
    </a:defPPr>
    <a:lvl1pPr marL="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1pPr>
    <a:lvl2pPr marL="731429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2pPr>
    <a:lvl3pPr marL="1462857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3pPr>
    <a:lvl4pPr marL="2194286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4pPr>
    <a:lvl5pPr marL="2925714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5pPr>
    <a:lvl6pPr marL="3657143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6pPr>
    <a:lvl7pPr marL="4388571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7pPr>
    <a:lvl8pPr marL="512000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8pPr>
    <a:lvl9pPr marL="5851428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068" y="1296"/>
      </p:cViewPr>
      <p:guideLst>
        <p:guide orient="horz" pos="4899"/>
        <p:guide pos="31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753430" y="4831926"/>
            <a:ext cx="8538845" cy="3334097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506858" y="8814119"/>
            <a:ext cx="7031990" cy="39749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224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449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67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89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12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34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572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797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2D01FC-0025-4FA3-946F-2204CE555972}" type="datetimeFigureOut">
              <a:rPr lang="es-VE" altLang="es-VE"/>
              <a:pPr/>
              <a:t>6/3/2026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79C5D1D-FDBB-48E2-858A-8E19487585F5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2888152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/>
          <p:cNvSpPr>
            <a:spLocks noGrp="1"/>
          </p:cNvSpPr>
          <p:nvPr>
            <p:ph type="title"/>
          </p:nvPr>
        </p:nvSpPr>
        <p:spPr bwMode="auto">
          <a:xfrm>
            <a:off x="501650" y="622300"/>
            <a:ext cx="9042400" cy="25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título del patrón</a:t>
            </a:r>
            <a:endParaRPr lang="es-VE" altLang="es-VE" smtClean="0"/>
          </a:p>
        </p:txBody>
      </p:sp>
      <p:sp>
        <p:nvSpPr>
          <p:cNvPr id="1027" name="2 Marcador de texto"/>
          <p:cNvSpPr>
            <a:spLocks noGrp="1"/>
          </p:cNvSpPr>
          <p:nvPr>
            <p:ph type="body" idx="1"/>
          </p:nvPr>
        </p:nvSpPr>
        <p:spPr bwMode="auto">
          <a:xfrm>
            <a:off x="501650" y="3629025"/>
            <a:ext cx="9042400" cy="1026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texto del patrón</a:t>
            </a:r>
          </a:p>
          <a:p>
            <a:pPr lvl="1"/>
            <a:r>
              <a:rPr lang="es-ES" altLang="es-VE" smtClean="0"/>
              <a:t>Segundo nivel</a:t>
            </a:r>
          </a:p>
          <a:p>
            <a:pPr lvl="2"/>
            <a:r>
              <a:rPr lang="es-ES" altLang="es-VE" smtClean="0"/>
              <a:t>Tercer nivel</a:t>
            </a:r>
          </a:p>
          <a:p>
            <a:pPr lvl="3"/>
            <a:r>
              <a:rPr lang="es-ES" altLang="es-VE" smtClean="0"/>
              <a:t>Cuarto nivel</a:t>
            </a:r>
          </a:p>
          <a:p>
            <a:pPr lvl="4"/>
            <a:r>
              <a:rPr lang="es-ES" altLang="es-VE" smtClean="0"/>
              <a:t>Quinto nivel</a:t>
            </a:r>
            <a:endParaRPr lang="es-VE" altLang="es-VE" smtClean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501650" y="14416088"/>
            <a:ext cx="2344738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4DA8898B-76CB-4B55-B655-3233B63DAA7C}" type="datetimeFigureOut">
              <a:rPr lang="es-VE" altLang="es-VE"/>
              <a:pPr/>
              <a:t>6/3/2026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432175" y="14416088"/>
            <a:ext cx="3181350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199313" y="14416088"/>
            <a:ext cx="2344737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4CD2E7E6-C7B5-4321-A946-432BDB843D0E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630736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1443038" rtl="0" eaLnBrk="0" fontAlgn="base" hangingPunct="0">
        <a:spcBef>
          <a:spcPct val="0"/>
        </a:spcBef>
        <a:spcAft>
          <a:spcPct val="0"/>
        </a:spcAft>
        <a:defRPr sz="69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2pPr>
      <a:lvl3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3pPr>
      <a:lvl4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4pPr>
      <a:lvl5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5pPr>
      <a:lvl6pPr marL="396438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6pPr>
      <a:lvl7pPr marL="792876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7pPr>
      <a:lvl8pPr marL="1189314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8pPr>
      <a:lvl9pPr marL="1585752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9pPr>
    </p:titleStyle>
    <p:bodyStyle>
      <a:lvl1pPr marL="539750" indent="-5397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171575" indent="-4508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4400" kern="1200">
          <a:solidFill>
            <a:schemeClr val="tx1"/>
          </a:solidFill>
          <a:latin typeface="+mn-lt"/>
          <a:ea typeface="+mn-ea"/>
          <a:cs typeface="+mn-cs"/>
        </a:defRPr>
      </a:lvl2pPr>
      <a:lvl3pPr marL="1804988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3pPr>
      <a:lvl4pPr marL="25257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3100" kern="1200">
          <a:solidFill>
            <a:schemeClr val="tx1"/>
          </a:solidFill>
          <a:latin typeface="+mn-lt"/>
          <a:ea typeface="+mn-ea"/>
          <a:cs typeface="+mn-cs"/>
        </a:defRPr>
      </a:lvl4pPr>
      <a:lvl5pPr marL="32496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3100" kern="1200">
          <a:solidFill>
            <a:schemeClr val="tx1"/>
          </a:solidFill>
          <a:latin typeface="+mn-lt"/>
          <a:ea typeface="+mn-ea"/>
          <a:cs typeface="+mn-cs"/>
        </a:defRPr>
      </a:lvl5pPr>
      <a:lvl6pPr marL="3973579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6pPr>
      <a:lvl7pPr marL="469604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7pPr>
      <a:lvl8pPr marL="541851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8pPr>
      <a:lvl9pPr marL="6140985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722469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444938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2167407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4pPr>
      <a:lvl5pPr marL="2889875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5pPr>
      <a:lvl6pPr marL="3612344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6pPr>
      <a:lvl7pPr marL="4334813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7pPr>
      <a:lvl8pPr marL="5057282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8pPr>
      <a:lvl9pPr marL="577975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" y="469900"/>
            <a:ext cx="9558338" cy="1465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" name="78 CuadroTexto"/>
          <p:cNvSpPr txBox="1">
            <a:spLocks noChangeArrowheads="1"/>
          </p:cNvSpPr>
          <p:nvPr/>
        </p:nvSpPr>
        <p:spPr bwMode="auto">
          <a:xfrm>
            <a:off x="4806826" y="3744317"/>
            <a:ext cx="991121" cy="4760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5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二</a:t>
            </a:r>
            <a:r>
              <a:rPr lang="ja-JP" altLang="es-VE" sz="5400" dirty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允許ス</a:t>
            </a:r>
            <a:endParaRPr lang="es-VE" altLang="es-VE" sz="5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5" name="34 Rectángulo"/>
          <p:cNvSpPr/>
          <p:nvPr/>
        </p:nvSpPr>
        <p:spPr>
          <a:xfrm>
            <a:off x="8407400" y="2418542"/>
            <a:ext cx="432048" cy="144655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s-MX" altLang="ja-JP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{{cd}}</a:t>
            </a:r>
            <a:endParaRPr lang="es-MX" altLang="ja-JP" sz="2000" spc="-3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  <a:p>
            <a:pPr algn="ctr" eaLnBrk="1" hangingPunct="1">
              <a:defRPr/>
            </a:pP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5123" name="10 CuadroTexto"/>
          <p:cNvSpPr txBox="1">
            <a:spLocks noChangeArrowheads="1"/>
          </p:cNvSpPr>
          <p:nvPr/>
        </p:nvSpPr>
        <p:spPr bwMode="auto">
          <a:xfrm>
            <a:off x="0" y="7499350"/>
            <a:ext cx="10045700" cy="1357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600" dirty="0">
                <a:latin typeface="Arial Black" pitchFamily="34" charset="0"/>
              </a:rPr>
              <a:t>ORGANIZACIÓN  GOJYU RYU  KARATE DO                                                                                 DE VENEZUELA                                                                                              </a:t>
            </a:r>
            <a:r>
              <a:rPr lang="es-VE" altLang="es-VE" sz="3100" dirty="0">
                <a:latin typeface="Arial Black" pitchFamily="34" charset="0"/>
              </a:rPr>
              <a:t>O.G.K.V.</a:t>
            </a:r>
          </a:p>
        </p:txBody>
      </p:sp>
      <p:sp>
        <p:nvSpPr>
          <p:cNvPr id="37" name="36 Rectángulo"/>
          <p:cNvSpPr/>
          <p:nvPr/>
        </p:nvSpPr>
        <p:spPr>
          <a:xfrm>
            <a:off x="3875088" y="0"/>
            <a:ext cx="2235200" cy="2390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9288" tIns="39644" rIns="79288" bIns="39644" anchor="ctr"/>
          <a:lstStyle/>
          <a:p>
            <a:pPr algn="ctr" eaLnBrk="1" hangingPunct="1"/>
            <a:endParaRPr lang="es-VE" altLang="es-VE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5125" name="78 CuadroTexto"/>
          <p:cNvSpPr txBox="1">
            <a:spLocks noChangeArrowheads="1"/>
          </p:cNvSpPr>
          <p:nvPr/>
        </p:nvSpPr>
        <p:spPr bwMode="auto">
          <a:xfrm>
            <a:off x="0" y="8845550"/>
            <a:ext cx="10045700" cy="51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800">
                <a:latin typeface="Lucida Calligraphy" pitchFamily="66" charset="0"/>
              </a:rPr>
              <a:t>Certifica Que:</a:t>
            </a:r>
          </a:p>
        </p:txBody>
      </p:sp>
      <p:sp>
        <p:nvSpPr>
          <p:cNvPr id="75" name="74 CuadroTexto"/>
          <p:cNvSpPr txBox="1"/>
          <p:nvPr/>
        </p:nvSpPr>
        <p:spPr>
          <a:xfrm>
            <a:off x="5454898" y="2307256"/>
            <a:ext cx="938158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5200" dirty="0">
                <a:latin typeface="EPSON 太行書体Ｂ" pitchFamily="65" charset="-128"/>
                <a:ea typeface="EPSON 太行書体Ｂ" pitchFamily="65" charset="-128"/>
              </a:rPr>
              <a:t>剛柔流空手道</a:t>
            </a:r>
            <a:endParaRPr lang="es-VE" sz="52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78" name="77 CuadroTexto"/>
          <p:cNvSpPr txBox="1"/>
          <p:nvPr/>
        </p:nvSpPr>
        <p:spPr>
          <a:xfrm>
            <a:off x="6246986" y="2299098"/>
            <a:ext cx="938158" cy="4507598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algn="dist" defTabSz="1443971" eaLnBrk="1" hangingPunct="1">
              <a:defRPr/>
            </a:pPr>
            <a:r>
              <a:rPr lang="ja-JP" altLang="es-VE" sz="5200" dirty="0">
                <a:latin typeface="EPSON 太行書体Ｂ" pitchFamily="65" charset="-128"/>
                <a:ea typeface="EPSON 太行書体Ｂ" pitchFamily="65" charset="-128"/>
              </a:rPr>
              <a:t>右者沖縄伝</a:t>
            </a:r>
            <a:endParaRPr lang="es-VE" sz="52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5131" name="80 CuadroTexto"/>
          <p:cNvSpPr txBox="1">
            <a:spLocks noChangeArrowheads="1"/>
          </p:cNvSpPr>
          <p:nvPr/>
        </p:nvSpPr>
        <p:spPr bwMode="auto">
          <a:xfrm>
            <a:off x="4125913" y="2368550"/>
            <a:ext cx="836612" cy="565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4400">
                <a:latin typeface="EPSON 太行書体Ｂ" pitchFamily="65" charset="-128"/>
                <a:ea typeface="EPSON 太行書体Ｂ" pitchFamily="65" charset="-128"/>
              </a:rPr>
              <a:t>ベネズエラ剛柔流</a:t>
            </a:r>
            <a:endParaRPr lang="es-VE" altLang="es-VE" sz="440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82" name="81 CuadroTexto"/>
          <p:cNvSpPr txBox="1"/>
          <p:nvPr/>
        </p:nvSpPr>
        <p:spPr>
          <a:xfrm>
            <a:off x="3340308" y="2438935"/>
            <a:ext cx="818446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400" dirty="0">
                <a:latin typeface="EPSON 太行書体Ｂ" pitchFamily="65" charset="-128"/>
                <a:ea typeface="EPSON 太行書体Ｂ" pitchFamily="65" charset="-128"/>
              </a:rPr>
              <a:t>空手道協会</a:t>
            </a:r>
            <a:endParaRPr lang="es-VE" sz="44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86" name="85 CuadroTexto"/>
          <p:cNvSpPr txBox="1"/>
          <p:nvPr/>
        </p:nvSpPr>
        <p:spPr>
          <a:xfrm>
            <a:off x="1530809" y="2047100"/>
            <a:ext cx="683729" cy="6666166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latin typeface="EPSON 太行書体Ｂ" pitchFamily="65" charset="-128"/>
                <a:ea typeface="EPSON 太行書体Ｂ" pitchFamily="65" charset="-128"/>
              </a:rPr>
              <a:t>ベルデウイリアン師範</a:t>
            </a:r>
            <a:endParaRPr lang="es-VE" sz="35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87" name="86 CuadroTexto"/>
          <p:cNvSpPr txBox="1"/>
          <p:nvPr/>
        </p:nvSpPr>
        <p:spPr>
          <a:xfrm>
            <a:off x="990402" y="2045149"/>
            <a:ext cx="683729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latin typeface="EPSON 太行書体Ｂ" pitchFamily="65" charset="-128"/>
                <a:ea typeface="EPSON 太行書体Ｂ" pitchFamily="65" charset="-128"/>
              </a:rPr>
              <a:t>ベラスケスセサル先生</a:t>
            </a:r>
            <a:endParaRPr lang="es-VE" sz="35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4" name="33 Rectángulo"/>
          <p:cNvSpPr/>
          <p:nvPr/>
        </p:nvSpPr>
        <p:spPr>
          <a:xfrm>
            <a:off x="7903170" y="4152194"/>
            <a:ext cx="642942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8000" dirty="0">
                <a:ln w="6350">
                  <a:solidFill>
                    <a:schemeClr val="tx1"/>
                  </a:solidFill>
                </a:ln>
                <a:latin typeface="EPSON 太行書体Ｂ" pitchFamily="65" charset="-128"/>
                <a:ea typeface="EPSON 太行書体Ｂ" pitchFamily="65" charset="-128"/>
              </a:rPr>
              <a:t>證</a:t>
            </a:r>
            <a:endParaRPr lang="es-VE" sz="8000" dirty="0">
              <a:ln w="6350">
                <a:solidFill>
                  <a:schemeClr val="tx1"/>
                </a:solidFill>
              </a:ln>
              <a:latin typeface="EPSON 太行書体Ｂ" pitchFamily="65" charset="-128"/>
              <a:ea typeface="EPSON 太行書体Ｂ" pitchFamily="65" charset="-128"/>
            </a:endParaRPr>
          </a:p>
        </p:txBody>
      </p:sp>
      <p:pic>
        <p:nvPicPr>
          <p:cNvPr id="5137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2388" y="12145963"/>
            <a:ext cx="1200150" cy="107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38" name="20 CuadroTexto"/>
          <p:cNvSpPr txBox="1">
            <a:spLocks noChangeArrowheads="1"/>
          </p:cNvSpPr>
          <p:nvPr/>
        </p:nvSpPr>
        <p:spPr bwMode="auto">
          <a:xfrm>
            <a:off x="0" y="9112250"/>
            <a:ext cx="10045700" cy="1188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lnSpc>
                <a:spcPct val="150000"/>
              </a:lnSpc>
            </a:pPr>
            <a:r>
              <a:rPr lang="it-IT" altLang="ja-JP" sz="4800" dirty="0" smtClean="0">
                <a:solidFill>
                  <a:srgbClr val="FF0000"/>
                </a:solidFill>
                <a:latin typeface="Old English Text MT" pitchFamily="66" charset="0"/>
                <a:cs typeface="Times New Roman" pitchFamily="18" charset="0"/>
              </a:rPr>
              <a:t>{{Nombre_Alumno}}</a:t>
            </a:r>
            <a:endParaRPr lang="es-VE" altLang="ja-JP" sz="4800" dirty="0">
              <a:solidFill>
                <a:srgbClr val="FF0000"/>
              </a:solidFill>
              <a:latin typeface="Old English Text MT" pitchFamily="66" charset="0"/>
              <a:cs typeface="Times New Roman" pitchFamily="18" charset="0"/>
            </a:endParaRPr>
          </a:p>
        </p:txBody>
      </p:sp>
      <p:sp>
        <p:nvSpPr>
          <p:cNvPr id="5139" name="88 CuadroTexto"/>
          <p:cNvSpPr txBox="1">
            <a:spLocks noChangeArrowheads="1"/>
          </p:cNvSpPr>
          <p:nvPr/>
        </p:nvSpPr>
        <p:spPr bwMode="auto">
          <a:xfrm>
            <a:off x="7126897" y="1584325"/>
            <a:ext cx="775678" cy="6264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MX" altLang="ja-JP" sz="4000" dirty="0" smtClean="0">
                <a:latin typeface="EPSON 太行書体Ｂ" pitchFamily="65" charset="-128"/>
                <a:ea typeface="EPSON 太行書体Ｂ" pitchFamily="65" charset="-128"/>
              </a:rPr>
              <a:t>{{</a:t>
            </a:r>
            <a:r>
              <a:rPr lang="es-MX" altLang="ja-JP" sz="4000" dirty="0" err="1" smtClean="0">
                <a:latin typeface="EPSON 太行書体Ｂ" pitchFamily="65" charset="-128"/>
                <a:ea typeface="EPSON 太行書体Ｂ" pitchFamily="65" charset="-128"/>
              </a:rPr>
              <a:t>nombre_katakana</a:t>
            </a:r>
            <a:r>
              <a:rPr lang="es-MX" altLang="ja-JP" sz="4000" dirty="0" smtClean="0">
                <a:latin typeface="EPSON 太行書体Ｂ" pitchFamily="65" charset="-128"/>
                <a:ea typeface="EPSON 太行書体Ｂ" pitchFamily="65" charset="-128"/>
              </a:rPr>
              <a:t>}}</a:t>
            </a:r>
            <a:endParaRPr lang="es-VE" altLang="ja-JP" sz="40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4" name="43 CuadroTexto"/>
          <p:cNvSpPr txBox="1"/>
          <p:nvPr/>
        </p:nvSpPr>
        <p:spPr>
          <a:xfrm>
            <a:off x="2054871" y="3024634"/>
            <a:ext cx="758558" cy="3525667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000" spc="-300" dirty="0">
                <a:latin typeface="EPSON 太行書体Ｂ" pitchFamily="65" charset="-128"/>
                <a:ea typeface="EPSON 太行書体Ｂ" pitchFamily="65" charset="-128"/>
              </a:rPr>
              <a:t>緑</a:t>
            </a:r>
            <a:r>
              <a:rPr lang="ja-JP" altLang="es-ES" sz="4000" spc="-300" dirty="0">
                <a:latin typeface="EPSON 太行書体Ｂ" pitchFamily="65" charset="-128"/>
                <a:ea typeface="EPSON 太行書体Ｂ" pitchFamily="65" charset="-128"/>
              </a:rPr>
              <a:t>と</a:t>
            </a:r>
            <a:r>
              <a:rPr lang="ja-JP" altLang="es-VE" sz="4000" spc="-300" dirty="0">
                <a:latin typeface="EPSON 太行書体Ｂ" pitchFamily="65" charset="-128"/>
                <a:ea typeface="EPSON 太行書体Ｂ" pitchFamily="65" charset="-128"/>
              </a:rPr>
              <a:t>砕破道場</a:t>
            </a:r>
            <a:endParaRPr lang="es-VE" sz="4000" spc="-3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5141" name="6 Rectángulo"/>
          <p:cNvSpPr>
            <a:spLocks noChangeArrowheads="1"/>
          </p:cNvSpPr>
          <p:nvPr/>
        </p:nvSpPr>
        <p:spPr bwMode="auto">
          <a:xfrm>
            <a:off x="1601788" y="14035088"/>
            <a:ext cx="2411412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>
                <a:latin typeface="Andalus" pitchFamily="18" charset="-78"/>
                <a:cs typeface="Andalus" pitchFamily="18" charset="-78"/>
              </a:rPr>
              <a:t>Director Técnico de la O.G.K.V</a:t>
            </a:r>
          </a:p>
        </p:txBody>
      </p:sp>
      <p:cxnSp>
        <p:nvCxnSpPr>
          <p:cNvPr id="46" name="45 Conector recto"/>
          <p:cNvCxnSpPr/>
          <p:nvPr/>
        </p:nvCxnSpPr>
        <p:spPr>
          <a:xfrm>
            <a:off x="1538288" y="13828713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3" name="4 Rectángulo"/>
          <p:cNvSpPr>
            <a:spLocks noChangeArrowheads="1"/>
          </p:cNvSpPr>
          <p:nvPr/>
        </p:nvSpPr>
        <p:spPr bwMode="auto">
          <a:xfrm>
            <a:off x="1658938" y="13860463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latin typeface="Andalus" pitchFamily="18" charset="-78"/>
                <a:cs typeface="Andalus" pitchFamily="18" charset="-78"/>
              </a:rPr>
              <a:t>Sensei César Velásquez</a:t>
            </a:r>
          </a:p>
        </p:txBody>
      </p:sp>
      <p:sp>
        <p:nvSpPr>
          <p:cNvPr id="5144" name="6 Rectángulo"/>
          <p:cNvSpPr>
            <a:spLocks noChangeArrowheads="1"/>
          </p:cNvSpPr>
          <p:nvPr/>
        </p:nvSpPr>
        <p:spPr bwMode="auto">
          <a:xfrm>
            <a:off x="5930900" y="14035088"/>
            <a:ext cx="2614613" cy="295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>
                <a:latin typeface="Andalus" pitchFamily="18" charset="-78"/>
                <a:cs typeface="Andalus" pitchFamily="18" charset="-78"/>
              </a:rPr>
              <a:t>Instructor Dojo Midori &amp; Saifa</a:t>
            </a:r>
          </a:p>
        </p:txBody>
      </p:sp>
      <p:cxnSp>
        <p:nvCxnSpPr>
          <p:cNvPr id="49" name="48 Conector recto"/>
          <p:cNvCxnSpPr/>
          <p:nvPr/>
        </p:nvCxnSpPr>
        <p:spPr>
          <a:xfrm>
            <a:off x="5930900" y="13828713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6" name="4 Rectángulo"/>
          <p:cNvSpPr>
            <a:spLocks noChangeArrowheads="1"/>
          </p:cNvSpPr>
          <p:nvPr/>
        </p:nvSpPr>
        <p:spPr bwMode="auto">
          <a:xfrm>
            <a:off x="6051550" y="13860463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latin typeface="Andalus" pitchFamily="18" charset="-78"/>
                <a:cs typeface="Andalus" pitchFamily="18" charset="-78"/>
              </a:rPr>
              <a:t>Sensei Marbelys Vargas</a:t>
            </a:r>
          </a:p>
        </p:txBody>
      </p:sp>
      <p:sp>
        <p:nvSpPr>
          <p:cNvPr id="5147" name="82 CuadroTexto"/>
          <p:cNvSpPr txBox="1">
            <a:spLocks noChangeArrowheads="1"/>
          </p:cNvSpPr>
          <p:nvPr/>
        </p:nvSpPr>
        <p:spPr bwMode="auto">
          <a:xfrm>
            <a:off x="2965656" y="3240088"/>
            <a:ext cx="467901" cy="3887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 anchor="ctr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MX" altLang="ja-JP" sz="2000" dirty="0" smtClean="0">
                <a:latin typeface="EPSON 太行書体Ｂ" pitchFamily="65" charset="-128"/>
                <a:ea typeface="EPSON 太行書体Ｂ" pitchFamily="65" charset="-128"/>
              </a:rPr>
              <a:t>{{</a:t>
            </a:r>
            <a:r>
              <a:rPr lang="es-MX" altLang="ja-JP" sz="2000" dirty="0" err="1" smtClean="0">
                <a:latin typeface="EPSON 太行書体Ｂ" pitchFamily="65" charset="-128"/>
                <a:ea typeface="EPSON 太行書体Ｂ" pitchFamily="65" charset="-128"/>
              </a:rPr>
              <a:t>fecha_japonesa</a:t>
            </a:r>
            <a:r>
              <a:rPr lang="es-MX" altLang="ja-JP" sz="2000" dirty="0" smtClean="0">
                <a:latin typeface="EPSON 太行書体Ｂ" pitchFamily="65" charset="-128"/>
                <a:ea typeface="EPSON 太行書体Ｂ" pitchFamily="65" charset="-128"/>
              </a:rPr>
              <a:t>}}</a:t>
            </a:r>
            <a:endParaRPr lang="es-VE" altLang="es-VE" sz="20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pic>
        <p:nvPicPr>
          <p:cNvPr id="5149" name="1 Imagen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282575"/>
            <a:ext cx="1968500" cy="194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" name="35 Rectángulo"/>
          <p:cNvSpPr/>
          <p:nvPr/>
        </p:nvSpPr>
        <p:spPr>
          <a:xfrm>
            <a:off x="8407400" y="2017319"/>
            <a:ext cx="432048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第</a:t>
            </a: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38" name="37 Rectángulo"/>
          <p:cNvSpPr/>
          <p:nvPr/>
        </p:nvSpPr>
        <p:spPr>
          <a:xfrm>
            <a:off x="8407400" y="3644288"/>
            <a:ext cx="432048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号</a:t>
            </a: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40" name="78 CuadroTexto"/>
          <p:cNvSpPr txBox="1">
            <a:spLocks noChangeArrowheads="1"/>
          </p:cNvSpPr>
          <p:nvPr/>
        </p:nvSpPr>
        <p:spPr bwMode="auto">
          <a:xfrm>
            <a:off x="4807124" y="2376562"/>
            <a:ext cx="991121" cy="1799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MX" altLang="es-VE" sz="5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{k}</a:t>
            </a:r>
            <a:endParaRPr lang="es-VE" altLang="es-VE" sz="5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5" name="20 CuadroTexto"/>
          <p:cNvSpPr txBox="1">
            <a:spLocks noChangeArrowheads="1"/>
          </p:cNvSpPr>
          <p:nvPr/>
        </p:nvSpPr>
        <p:spPr bwMode="auto">
          <a:xfrm>
            <a:off x="1077913" y="10201275"/>
            <a:ext cx="7977187" cy="1188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400" i="1" dirty="0">
                <a:latin typeface="Times New Roman" pitchFamily="18" charset="0"/>
                <a:cs typeface="Times New Roman" pitchFamily="18" charset="0"/>
              </a:rPr>
              <a:t>Ha presentado satisfactoriamente su examen reglamentario, demostrando gran aplicación en el aprendizaje del                   </a:t>
            </a:r>
            <a:r>
              <a:rPr lang="es-VE" altLang="es-VE" sz="2400" b="1" i="1" dirty="0">
                <a:latin typeface="Times New Roman" pitchFamily="18" charset="0"/>
                <a:cs typeface="Times New Roman" pitchFamily="18" charset="0"/>
              </a:rPr>
              <a:t>Karate - Do </a:t>
            </a:r>
            <a:r>
              <a:rPr lang="es-VE" altLang="es-VE" sz="2400" i="1" dirty="0">
                <a:latin typeface="Times New Roman" pitchFamily="18" charset="0"/>
                <a:cs typeface="Times New Roman" pitchFamily="18" charset="0"/>
              </a:rPr>
              <a:t>estilo </a:t>
            </a:r>
            <a:r>
              <a:rPr lang="es-VE" altLang="es-VE" sz="2400" b="1" i="1" dirty="0">
                <a:latin typeface="Times New Roman" pitchFamily="18" charset="0"/>
                <a:cs typeface="Times New Roman" pitchFamily="18" charset="0"/>
              </a:rPr>
              <a:t>Okinawa </a:t>
            </a:r>
            <a:r>
              <a:rPr lang="es-VE" altLang="es-VE" sz="2400" b="1" i="1" dirty="0" err="1">
                <a:latin typeface="Times New Roman" pitchFamily="18" charset="0"/>
                <a:cs typeface="Times New Roman" pitchFamily="18" charset="0"/>
              </a:rPr>
              <a:t>Gojyu</a:t>
            </a:r>
            <a:r>
              <a:rPr lang="es-VE" altLang="es-VE" sz="2400" b="1" i="1" dirty="0">
                <a:latin typeface="Times New Roman" pitchFamily="18" charset="0"/>
                <a:cs typeface="Times New Roman" pitchFamily="18" charset="0"/>
              </a:rPr>
              <a:t> - </a:t>
            </a:r>
            <a:r>
              <a:rPr lang="es-VE" altLang="es-VE" sz="2400" b="1" i="1" dirty="0" err="1">
                <a:latin typeface="Times New Roman" pitchFamily="18" charset="0"/>
                <a:cs typeface="Times New Roman" pitchFamily="18" charset="0"/>
              </a:rPr>
              <a:t>Ryu</a:t>
            </a:r>
            <a:r>
              <a:rPr lang="es-VE" altLang="es-VE" sz="2400" b="1" i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s-VE" altLang="es-VE" sz="2400" i="1" dirty="0">
                <a:latin typeface="Times New Roman" pitchFamily="18" charset="0"/>
                <a:cs typeface="Times New Roman" pitchFamily="18" charset="0"/>
              </a:rPr>
              <a:t>y en Virtud de </a:t>
            </a:r>
            <a:r>
              <a:rPr lang="es-VE" altLang="es-VE" sz="2400" i="1" dirty="0" smtClean="0">
                <a:latin typeface="Times New Roman" pitchFamily="18" charset="0"/>
                <a:cs typeface="Times New Roman" pitchFamily="18" charset="0"/>
              </a:rPr>
              <a:t>su</a:t>
            </a:r>
            <a:endParaRPr lang="es-VE" altLang="es-VE" sz="24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7" name="20 CuadroTexto"/>
          <p:cNvSpPr txBox="1">
            <a:spLocks noChangeArrowheads="1"/>
          </p:cNvSpPr>
          <p:nvPr/>
        </p:nvSpPr>
        <p:spPr bwMode="auto">
          <a:xfrm>
            <a:off x="5554266" y="11288208"/>
            <a:ext cx="3921917" cy="4493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2400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{{</a:t>
            </a:r>
            <a:r>
              <a:rPr lang="es-VE" altLang="es-VE" sz="2400" b="1" i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grado_español</a:t>
            </a:r>
            <a:r>
              <a:rPr lang="es-VE" altLang="es-VE" sz="2400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}}</a:t>
            </a:r>
            <a:endParaRPr lang="es-VE" altLang="es-VE" sz="24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8" name="20 CuadroTexto"/>
          <p:cNvSpPr txBox="1">
            <a:spLocks noChangeArrowheads="1"/>
          </p:cNvSpPr>
          <p:nvPr/>
        </p:nvSpPr>
        <p:spPr bwMode="auto">
          <a:xfrm>
            <a:off x="869579" y="11288208"/>
            <a:ext cx="5240709" cy="4493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400" i="1" dirty="0" smtClean="0">
                <a:latin typeface="Times New Roman" pitchFamily="18" charset="0"/>
                <a:cs typeface="Times New Roman" pitchFamily="18" charset="0"/>
              </a:rPr>
              <a:t>progreso </a:t>
            </a:r>
            <a:r>
              <a:rPr lang="es-VE" altLang="es-VE" sz="2400" i="1" dirty="0">
                <a:latin typeface="Times New Roman" pitchFamily="18" charset="0"/>
                <a:cs typeface="Times New Roman" pitchFamily="18" charset="0"/>
              </a:rPr>
              <a:t>se le otorga el grado de</a:t>
            </a:r>
            <a:r>
              <a:rPr lang="es-VE" altLang="es-VE" sz="2400" i="1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es-VE" altLang="es-VE" sz="24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3" name="74 Rectángulo"/>
          <p:cNvSpPr>
            <a:spLocks noChangeArrowheads="1"/>
          </p:cNvSpPr>
          <p:nvPr/>
        </p:nvSpPr>
        <p:spPr bwMode="auto">
          <a:xfrm>
            <a:off x="6396831" y="12118616"/>
            <a:ext cx="2951163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latin typeface="Times New Roman" pitchFamily="18" charset="0"/>
                <a:cs typeface="Times New Roman" pitchFamily="18" charset="0"/>
              </a:rPr>
              <a:t>Registro </a:t>
            </a:r>
            <a:r>
              <a:rPr lang="es-VE" altLang="es-VE" sz="17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es-VE" altLang="es-VE" sz="1700" i="1" dirty="0" smtClean="0">
                <a:latin typeface="Times New Roman" pitchFamily="18" charset="0"/>
                <a:cs typeface="Times New Roman" pitchFamily="18" charset="0"/>
              </a:rPr>
              <a:t>°:</a:t>
            </a:r>
            <a:endParaRPr lang="es-VE" altLang="es-VE" dirty="0"/>
          </a:p>
        </p:txBody>
      </p:sp>
      <p:sp>
        <p:nvSpPr>
          <p:cNvPr id="54" name="74 Rectángulo"/>
          <p:cNvSpPr>
            <a:spLocks noChangeArrowheads="1"/>
          </p:cNvSpPr>
          <p:nvPr/>
        </p:nvSpPr>
        <p:spPr bwMode="auto">
          <a:xfrm>
            <a:off x="6392167" y="11857038"/>
            <a:ext cx="2951163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latin typeface="Times New Roman" pitchFamily="18" charset="0"/>
                <a:cs typeface="Times New Roman" pitchFamily="18" charset="0"/>
              </a:rPr>
              <a:t>{{</a:t>
            </a:r>
            <a:r>
              <a:rPr lang="es-VE" altLang="es-VE" sz="1700" i="1" dirty="0" err="1" smtClean="0">
                <a:latin typeface="Times New Roman" pitchFamily="18" charset="0"/>
                <a:cs typeface="Times New Roman" pitchFamily="18" charset="0"/>
              </a:rPr>
              <a:t>ciudad_fecha</a:t>
            </a:r>
            <a:r>
              <a:rPr lang="es-VE" altLang="es-VE" sz="1700" i="1" dirty="0" smtClean="0">
                <a:latin typeface="Times New Roman" pitchFamily="18" charset="0"/>
                <a:cs typeface="Times New Roman" pitchFamily="18" charset="0"/>
              </a:rPr>
              <a:t>}}</a:t>
            </a:r>
            <a:endParaRPr lang="es-VE" altLang="es-VE" sz="1700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5" name="74 Rectángulo"/>
          <p:cNvSpPr>
            <a:spLocks noChangeArrowheads="1"/>
          </p:cNvSpPr>
          <p:nvPr/>
        </p:nvSpPr>
        <p:spPr bwMode="auto">
          <a:xfrm>
            <a:off x="7518102" y="12118257"/>
            <a:ext cx="1987154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{{registro}}</a:t>
            </a:r>
            <a:endParaRPr lang="es-VE" altLang="es-VE" dirty="0"/>
          </a:p>
        </p:txBody>
      </p:sp>
    </p:spTree>
    <p:extLst>
      <p:ext uri="{BB962C8B-B14F-4D97-AF65-F5344CB8AC3E}">
        <p14:creationId xmlns:p14="http://schemas.microsoft.com/office/powerpoint/2010/main" val="1639488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9383</TotalTime>
  <Words>147</Words>
  <Application>Microsoft Office PowerPoint</Application>
  <PresentationFormat>Personalizado</PresentationFormat>
  <Paragraphs>29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2" baseType="lpstr">
      <vt:lpstr>Tema de Office</vt:lpstr>
      <vt:lpstr>Presentación de PowerPoint</vt:lpstr>
    </vt:vector>
  </TitlesOfParts>
  <Company>Luffi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OGKV</dc:title>
  <dc:creator>César Velásquez</dc:creator>
  <dc:description/>
  <cp:lastModifiedBy>CD y JM</cp:lastModifiedBy>
  <cp:revision>568</cp:revision>
  <cp:lastPrinted>2025-12-20T03:06:34Z</cp:lastPrinted>
  <dcterms:created xsi:type="dcterms:W3CDTF">2009-07-25T14:43:43Z</dcterms:created>
  <dcterms:modified xsi:type="dcterms:W3CDTF">2026-03-06T18:17:45Z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Certificado OGKV</vt:lpwstr>
  </property>
  <property fmtid="{D5CDD505-2E9C-101B-9397-08002B2CF9AE}" pid="3" name="SlideDescription">
    <vt:lpwstr/>
  </property>
</Properties>
</file>