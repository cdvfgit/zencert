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045700" cy="15554325"/>
  <p:notesSz cx="6858000" cy="9144000"/>
  <p:defaultTextStyle>
    <a:defPPr>
      <a:defRPr lang="es-VE"/>
    </a:defPPr>
    <a:lvl1pPr marL="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429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2857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286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5714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143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8571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00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1428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753430" y="4831926"/>
            <a:ext cx="8538845" cy="333409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506858" y="8814119"/>
            <a:ext cx="7031990" cy="39749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2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4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7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9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12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34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572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797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2D01FC-0025-4FA3-946F-2204CE555972}" type="datetimeFigureOut">
              <a:rPr lang="es-VE" altLang="es-VE"/>
              <a:pPr/>
              <a:t>3/3/2026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9C5D1D-FDBB-48E2-858A-8E19487585F5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2888152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/>
          <p:cNvSpPr>
            <a:spLocks noGrp="1"/>
          </p:cNvSpPr>
          <p:nvPr>
            <p:ph type="title"/>
          </p:nvPr>
        </p:nvSpPr>
        <p:spPr bwMode="auto">
          <a:xfrm>
            <a:off x="501650" y="622300"/>
            <a:ext cx="9042400" cy="25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título del patrón</a:t>
            </a:r>
            <a:endParaRPr lang="es-VE" altLang="es-VE" smtClean="0"/>
          </a:p>
        </p:txBody>
      </p:sp>
      <p:sp>
        <p:nvSpPr>
          <p:cNvPr id="1027" name="2 Marcador de texto"/>
          <p:cNvSpPr>
            <a:spLocks noGrp="1"/>
          </p:cNvSpPr>
          <p:nvPr>
            <p:ph type="body" idx="1"/>
          </p:nvPr>
        </p:nvSpPr>
        <p:spPr bwMode="auto">
          <a:xfrm>
            <a:off x="501650" y="3629025"/>
            <a:ext cx="9042400" cy="1026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texto del patrón</a:t>
            </a:r>
          </a:p>
          <a:p>
            <a:pPr lvl="1"/>
            <a:r>
              <a:rPr lang="es-ES" altLang="es-VE" smtClean="0"/>
              <a:t>Segundo nivel</a:t>
            </a:r>
          </a:p>
          <a:p>
            <a:pPr lvl="2"/>
            <a:r>
              <a:rPr lang="es-ES" altLang="es-VE" smtClean="0"/>
              <a:t>Tercer nivel</a:t>
            </a:r>
          </a:p>
          <a:p>
            <a:pPr lvl="3"/>
            <a:r>
              <a:rPr lang="es-ES" altLang="es-VE" smtClean="0"/>
              <a:t>Cuarto nivel</a:t>
            </a:r>
          </a:p>
          <a:p>
            <a:pPr lvl="4"/>
            <a:r>
              <a:rPr lang="es-ES" altLang="es-VE" smtClean="0"/>
              <a:t>Quinto nivel</a:t>
            </a:r>
            <a:endParaRPr lang="es-VE" altLang="es-VE" smtClean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501650" y="14416088"/>
            <a:ext cx="2344738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DA8898B-76CB-4B55-B655-3233B63DAA7C}" type="datetimeFigureOut">
              <a:rPr lang="es-VE" altLang="es-VE"/>
              <a:pPr/>
              <a:t>3/3/2026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432175" y="14416088"/>
            <a:ext cx="3181350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199313" y="14416088"/>
            <a:ext cx="2344737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CD2E7E6-C7B5-4321-A946-432BDB843D0E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2265763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43038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2pPr>
      <a:lvl3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3pPr>
      <a:lvl4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4pPr>
      <a:lvl5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5pPr>
      <a:lvl6pPr marL="396438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6pPr>
      <a:lvl7pPr marL="792876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7pPr>
      <a:lvl8pPr marL="1189314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8pPr>
      <a:lvl9pPr marL="1585752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9pPr>
    </p:titleStyle>
    <p:bodyStyle>
      <a:lvl1pPr marL="539750" indent="-5397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1575" indent="-4508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4988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57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496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73579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9604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41851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40985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22469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44938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67407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889875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12344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34813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057282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77975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469900"/>
            <a:ext cx="9558338" cy="1465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19" name="10 CuadroTexto"/>
          <p:cNvSpPr txBox="1">
            <a:spLocks noChangeArrowheads="1"/>
          </p:cNvSpPr>
          <p:nvPr/>
        </p:nvSpPr>
        <p:spPr bwMode="auto">
          <a:xfrm>
            <a:off x="0" y="7499350"/>
            <a:ext cx="10045700" cy="1357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600">
                <a:latin typeface="Arial Black" pitchFamily="34" charset="0"/>
              </a:rPr>
              <a:t>ORGANIZACIÓN  GOJYU RYU  KARATE DO                                                                                 DE VENEZUELA                                                                                              </a:t>
            </a:r>
            <a:r>
              <a:rPr lang="es-VE" altLang="es-VE" sz="3100">
                <a:latin typeface="Arial Black" pitchFamily="34" charset="0"/>
              </a:rPr>
              <a:t>O.G.K.V.</a:t>
            </a:r>
          </a:p>
        </p:txBody>
      </p:sp>
      <p:sp>
        <p:nvSpPr>
          <p:cNvPr id="37" name="36 Rectángulo"/>
          <p:cNvSpPr/>
          <p:nvPr/>
        </p:nvSpPr>
        <p:spPr>
          <a:xfrm>
            <a:off x="3875088" y="0"/>
            <a:ext cx="2235200" cy="2390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9288" tIns="39644" rIns="79288" bIns="39644" anchor="ctr"/>
          <a:lstStyle/>
          <a:p>
            <a:pPr algn="ctr" eaLnBrk="1" hangingPunct="1"/>
            <a:endParaRPr lang="es-VE" altLang="es-VE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9221" name="78 CuadroTexto"/>
          <p:cNvSpPr txBox="1">
            <a:spLocks noChangeArrowheads="1"/>
          </p:cNvSpPr>
          <p:nvPr/>
        </p:nvSpPr>
        <p:spPr bwMode="auto">
          <a:xfrm>
            <a:off x="0" y="8845550"/>
            <a:ext cx="10045700" cy="51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>
                <a:latin typeface="Lucida Calligraphy" pitchFamily="66" charset="0"/>
              </a:rPr>
              <a:t>Certifica Que:</a:t>
            </a:r>
          </a:p>
        </p:txBody>
      </p:sp>
      <p:sp>
        <p:nvSpPr>
          <p:cNvPr id="9222" name="20 CuadroTexto"/>
          <p:cNvSpPr txBox="1">
            <a:spLocks noChangeArrowheads="1"/>
          </p:cNvSpPr>
          <p:nvPr/>
        </p:nvSpPr>
        <p:spPr bwMode="auto">
          <a:xfrm>
            <a:off x="1077913" y="10201275"/>
            <a:ext cx="7977187" cy="155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>
                <a:latin typeface="Times New Roman" pitchFamily="18" charset="0"/>
                <a:cs typeface="Times New Roman" pitchFamily="18" charset="0"/>
              </a:rPr>
              <a:t>Ha presentado satisfactoriamente su examen reglamentario, demostrando gran aplicación en el aprendizaje del                   </a:t>
            </a:r>
            <a:r>
              <a:rPr lang="es-VE" altLang="es-VE" sz="2400" b="1" i="1">
                <a:latin typeface="Times New Roman" pitchFamily="18" charset="0"/>
                <a:cs typeface="Times New Roman" pitchFamily="18" charset="0"/>
              </a:rPr>
              <a:t>Karate - Do </a:t>
            </a:r>
            <a:r>
              <a:rPr lang="es-VE" altLang="es-VE" sz="2400" i="1">
                <a:latin typeface="Times New Roman" pitchFamily="18" charset="0"/>
                <a:cs typeface="Times New Roman" pitchFamily="18" charset="0"/>
              </a:rPr>
              <a:t>estilo </a:t>
            </a:r>
            <a:r>
              <a:rPr lang="es-VE" altLang="es-VE" sz="2400" b="1" i="1">
                <a:latin typeface="Times New Roman" pitchFamily="18" charset="0"/>
                <a:cs typeface="Times New Roman" pitchFamily="18" charset="0"/>
              </a:rPr>
              <a:t>Okinawa Gojyu - Ryu </a:t>
            </a:r>
            <a:r>
              <a:rPr lang="es-VE" altLang="es-VE" sz="2400" i="1">
                <a:latin typeface="Times New Roman" pitchFamily="18" charset="0"/>
                <a:cs typeface="Times New Roman" pitchFamily="18" charset="0"/>
              </a:rPr>
              <a:t>y en Virtud de su progreso se le otorga el grado de: </a:t>
            </a:r>
            <a:r>
              <a:rPr lang="es-VE" altLang="es-VE" sz="2400" b="1" i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Cinturón Amarillo 8° Kyu.</a:t>
            </a:r>
            <a:endParaRPr lang="es-VE" altLang="es-VE" sz="2400" i="1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223" name="74 Rectángulo"/>
          <p:cNvSpPr>
            <a:spLocks noChangeArrowheads="1"/>
          </p:cNvSpPr>
          <p:nvPr/>
        </p:nvSpPr>
        <p:spPr bwMode="auto">
          <a:xfrm>
            <a:off x="6394450" y="11857038"/>
            <a:ext cx="2951163" cy="60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>
                <a:latin typeface="Times New Roman" pitchFamily="18" charset="0"/>
                <a:cs typeface="Times New Roman" pitchFamily="18" charset="0"/>
              </a:rPr>
              <a:t>Puerto Ordaz, 20/12/2025</a:t>
            </a:r>
          </a:p>
          <a:p>
            <a:pPr eaLnBrk="1" hangingPunct="1"/>
            <a:r>
              <a:rPr lang="es-VE" altLang="es-VE" sz="1700" i="1">
                <a:latin typeface="Times New Roman" pitchFamily="18" charset="0"/>
                <a:cs typeface="Times New Roman" pitchFamily="18" charset="0"/>
              </a:rPr>
              <a:t>Registro N°: </a:t>
            </a:r>
            <a:r>
              <a:rPr lang="es-VE" altLang="es-VE" sz="1700" i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s-VE" altLang="ja-JP" sz="1700" i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512</a:t>
            </a:r>
            <a:endParaRPr lang="es-VE" altLang="es-VE"/>
          </a:p>
        </p:txBody>
      </p:sp>
      <p:sp>
        <p:nvSpPr>
          <p:cNvPr id="75" name="74 CuadroTexto"/>
          <p:cNvSpPr txBox="1"/>
          <p:nvPr/>
        </p:nvSpPr>
        <p:spPr>
          <a:xfrm>
            <a:off x="5454898" y="2307256"/>
            <a:ext cx="938158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剛柔流空手道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78" name="77 CuadroTexto"/>
          <p:cNvSpPr txBox="1"/>
          <p:nvPr/>
        </p:nvSpPr>
        <p:spPr>
          <a:xfrm>
            <a:off x="6246986" y="2299098"/>
            <a:ext cx="938158" cy="4507598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algn="dist"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右者沖縄伝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9226" name="78 CuadroTexto"/>
          <p:cNvSpPr txBox="1">
            <a:spLocks noChangeArrowheads="1"/>
          </p:cNvSpPr>
          <p:nvPr/>
        </p:nvSpPr>
        <p:spPr bwMode="auto">
          <a:xfrm>
            <a:off x="4806950" y="2451100"/>
            <a:ext cx="960438" cy="4760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5200">
                <a:latin typeface="EPSON 太行書体Ｂ" pitchFamily="65" charset="-128"/>
                <a:ea typeface="EPSON 太行書体Ｂ" pitchFamily="65" charset="-128"/>
              </a:rPr>
              <a:t>八級二允許ス</a:t>
            </a:r>
            <a:endParaRPr lang="es-VE" altLang="es-VE" sz="520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9227" name="80 CuadroTexto"/>
          <p:cNvSpPr txBox="1">
            <a:spLocks noChangeArrowheads="1"/>
          </p:cNvSpPr>
          <p:nvPr/>
        </p:nvSpPr>
        <p:spPr bwMode="auto">
          <a:xfrm>
            <a:off x="4125913" y="2368550"/>
            <a:ext cx="836612" cy="565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4400">
                <a:latin typeface="EPSON 太行書体Ｂ" pitchFamily="65" charset="-128"/>
                <a:ea typeface="EPSON 太行書体Ｂ" pitchFamily="65" charset="-128"/>
              </a:rPr>
              <a:t>ベネズエラ剛柔流</a:t>
            </a:r>
            <a:endParaRPr lang="es-VE" altLang="es-VE" sz="440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2" name="81 CuadroTexto"/>
          <p:cNvSpPr txBox="1"/>
          <p:nvPr/>
        </p:nvSpPr>
        <p:spPr>
          <a:xfrm>
            <a:off x="3340308" y="2438935"/>
            <a:ext cx="818446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dirty="0">
                <a:latin typeface="EPSON 太行書体Ｂ" pitchFamily="65" charset="-128"/>
                <a:ea typeface="EPSON 太行書体Ｂ" pitchFamily="65" charset="-128"/>
              </a:rPr>
              <a:t>空手道協会</a:t>
            </a:r>
            <a:endParaRPr lang="es-VE" sz="44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6" name="85 CuadroTexto"/>
          <p:cNvSpPr txBox="1"/>
          <p:nvPr/>
        </p:nvSpPr>
        <p:spPr>
          <a:xfrm>
            <a:off x="1530809" y="2047100"/>
            <a:ext cx="683729" cy="66661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ベルデウイリアン師範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7" name="86 CuadroTexto"/>
          <p:cNvSpPr txBox="1"/>
          <p:nvPr/>
        </p:nvSpPr>
        <p:spPr>
          <a:xfrm>
            <a:off x="990402" y="2045149"/>
            <a:ext cx="683729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ベラスケスセサル先生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3" name="32 Rectángulo"/>
          <p:cNvSpPr/>
          <p:nvPr/>
        </p:nvSpPr>
        <p:spPr>
          <a:xfrm>
            <a:off x="8407226" y="2117386"/>
            <a:ext cx="432048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>
                <a:ln w="6350">
                  <a:solidFill>
                    <a:schemeClr val="tx1"/>
                  </a:solidFill>
                </a:ln>
                <a:latin typeface="EPSON 太行書体Ｂ" pitchFamily="65" charset="-128"/>
                <a:ea typeface="EPSON 太行書体Ｂ" pitchFamily="65" charset="-128"/>
              </a:rPr>
              <a:t>第一五一二号</a:t>
            </a:r>
            <a:r>
              <a:rPr lang="ja-JP" altLang="es-VE" sz="2800" dirty="0">
                <a:ln w="6350">
                  <a:solidFill>
                    <a:schemeClr val="tx1"/>
                  </a:solidFill>
                </a:ln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schemeClr val="tx1"/>
                </a:solidFill>
              </a:ln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34" name="33 Rectángulo"/>
          <p:cNvSpPr/>
          <p:nvPr/>
        </p:nvSpPr>
        <p:spPr>
          <a:xfrm>
            <a:off x="7903170" y="4152194"/>
            <a:ext cx="642942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8000" dirty="0">
                <a:ln w="6350">
                  <a:solidFill>
                    <a:schemeClr val="tx1"/>
                  </a:solidFill>
                </a:ln>
                <a:latin typeface="EPSON 太行書体Ｂ" pitchFamily="65" charset="-128"/>
                <a:ea typeface="EPSON 太行書体Ｂ" pitchFamily="65" charset="-128"/>
              </a:rPr>
              <a:t>證</a:t>
            </a:r>
            <a:endParaRPr lang="es-VE" sz="8000" dirty="0">
              <a:ln w="6350">
                <a:solidFill>
                  <a:schemeClr val="tx1"/>
                </a:solidFill>
              </a:ln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9233" name="82 CuadroTexto"/>
          <p:cNvSpPr txBox="1">
            <a:spLocks noChangeArrowheads="1"/>
          </p:cNvSpPr>
          <p:nvPr/>
        </p:nvSpPr>
        <p:spPr bwMode="auto">
          <a:xfrm>
            <a:off x="2935288" y="3240088"/>
            <a:ext cx="468312" cy="3887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 anchor="ctr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2000">
                <a:latin typeface="EPSON 太行書体Ｂ" pitchFamily="65" charset="-128"/>
                <a:ea typeface="EPSON 太行書体Ｂ" pitchFamily="65" charset="-128"/>
              </a:rPr>
              <a:t>二〇二五年十二月二十日</a:t>
            </a:r>
            <a:endParaRPr lang="es-VE" altLang="es-VE" sz="200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9234" name="20 CuadroTexto"/>
          <p:cNvSpPr txBox="1">
            <a:spLocks noChangeArrowheads="1"/>
          </p:cNvSpPr>
          <p:nvPr/>
        </p:nvSpPr>
        <p:spPr bwMode="auto">
          <a:xfrm>
            <a:off x="0" y="9132888"/>
            <a:ext cx="10045700" cy="118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it-IT" altLang="ja-JP" sz="4800">
                <a:solidFill>
                  <a:srgbClr val="FF0000"/>
                </a:solidFill>
                <a:latin typeface="Old English Text MT" pitchFamily="66" charset="0"/>
                <a:cs typeface="Times New Roman" pitchFamily="18" charset="0"/>
              </a:rPr>
              <a:t>Agustin Acosta</a:t>
            </a:r>
            <a:endParaRPr lang="es-VE" altLang="ja-JP" sz="4800">
              <a:solidFill>
                <a:srgbClr val="FF0000"/>
              </a:solidFill>
              <a:latin typeface="Old English Text MT" pitchFamily="66" charset="0"/>
              <a:cs typeface="Times New Roman" pitchFamily="18" charset="0"/>
            </a:endParaRPr>
          </a:p>
        </p:txBody>
      </p:sp>
      <p:sp>
        <p:nvSpPr>
          <p:cNvPr id="9235" name="88 CuadroTexto"/>
          <p:cNvSpPr txBox="1">
            <a:spLocks noChangeArrowheads="1"/>
          </p:cNvSpPr>
          <p:nvPr/>
        </p:nvSpPr>
        <p:spPr bwMode="auto">
          <a:xfrm>
            <a:off x="7126288" y="865188"/>
            <a:ext cx="776287" cy="7599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ja-JP" altLang="es-VE" sz="4000">
                <a:latin typeface="EPSON 太行書体Ｂ" pitchFamily="65" charset="-128"/>
                <a:ea typeface="EPSON 太行書体Ｂ" pitchFamily="65" charset="-128"/>
              </a:rPr>
              <a:t>アコスタ　アグステン　</a:t>
            </a:r>
            <a:endParaRPr lang="es-VE" altLang="ja-JP" sz="4000">
              <a:latin typeface="EPSON 太行書体Ｂ" pitchFamily="65" charset="-128"/>
              <a:ea typeface="EPSON 太行書体Ｂ" pitchFamily="65" charset="-128"/>
            </a:endParaRPr>
          </a:p>
        </p:txBody>
      </p:sp>
      <p:pic>
        <p:nvPicPr>
          <p:cNvPr id="9236" name="1 Imagen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282575"/>
            <a:ext cx="1968500" cy="194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37" name="88 CuadroTexto"/>
          <p:cNvSpPr txBox="1">
            <a:spLocks noChangeArrowheads="1"/>
          </p:cNvSpPr>
          <p:nvPr/>
        </p:nvSpPr>
        <p:spPr bwMode="auto">
          <a:xfrm>
            <a:off x="7373938" y="6240463"/>
            <a:ext cx="528637" cy="827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ja-JP" altLang="es-VE" sz="2400">
                <a:latin typeface="EPSON 太行書体Ｂ" pitchFamily="65" charset="-128"/>
                <a:ea typeface="EPSON 太行書体Ｂ" pitchFamily="65" charset="-128"/>
              </a:rPr>
              <a:t>イ　</a:t>
            </a:r>
            <a:endParaRPr lang="es-VE" altLang="ja-JP" sz="2400">
              <a:latin typeface="EPSON 太行書体Ｂ" pitchFamily="65" charset="-128"/>
              <a:ea typeface="EPSON 太行書体Ｂ" pitchFamily="65" charset="-128"/>
            </a:endParaRPr>
          </a:p>
        </p:txBody>
      </p:sp>
      <p:pic>
        <p:nvPicPr>
          <p:cNvPr id="9238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2388" y="12145963"/>
            <a:ext cx="1200150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39" name="6 Rectángulo"/>
          <p:cNvSpPr>
            <a:spLocks noChangeArrowheads="1"/>
          </p:cNvSpPr>
          <p:nvPr/>
        </p:nvSpPr>
        <p:spPr bwMode="auto">
          <a:xfrm>
            <a:off x="1601788" y="14035088"/>
            <a:ext cx="2411412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Director Técnico de la O.G.K.V</a:t>
            </a:r>
          </a:p>
        </p:txBody>
      </p:sp>
      <p:cxnSp>
        <p:nvCxnSpPr>
          <p:cNvPr id="42" name="41 Conector recto"/>
          <p:cNvCxnSpPr/>
          <p:nvPr/>
        </p:nvCxnSpPr>
        <p:spPr>
          <a:xfrm>
            <a:off x="1538288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41" name="4 Rectángulo"/>
          <p:cNvSpPr>
            <a:spLocks noChangeArrowheads="1"/>
          </p:cNvSpPr>
          <p:nvPr/>
        </p:nvSpPr>
        <p:spPr bwMode="auto">
          <a:xfrm>
            <a:off x="1658938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César Velásquez</a:t>
            </a:r>
          </a:p>
        </p:txBody>
      </p:sp>
      <p:sp>
        <p:nvSpPr>
          <p:cNvPr id="9242" name="6 Rectángulo"/>
          <p:cNvSpPr>
            <a:spLocks noChangeArrowheads="1"/>
          </p:cNvSpPr>
          <p:nvPr/>
        </p:nvSpPr>
        <p:spPr bwMode="auto">
          <a:xfrm>
            <a:off x="5930900" y="14035088"/>
            <a:ext cx="2614613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Instructor Dojo Midori Venalum</a:t>
            </a:r>
          </a:p>
        </p:txBody>
      </p:sp>
      <p:cxnSp>
        <p:nvCxnSpPr>
          <p:cNvPr id="45" name="44 Conector recto"/>
          <p:cNvCxnSpPr/>
          <p:nvPr/>
        </p:nvCxnSpPr>
        <p:spPr>
          <a:xfrm>
            <a:off x="5930900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44" name="4 Rectángulo"/>
          <p:cNvSpPr>
            <a:spLocks noChangeArrowheads="1"/>
          </p:cNvSpPr>
          <p:nvPr/>
        </p:nvSpPr>
        <p:spPr bwMode="auto">
          <a:xfrm>
            <a:off x="6051550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Julio Hernández</a:t>
            </a:r>
          </a:p>
        </p:txBody>
      </p:sp>
      <p:sp>
        <p:nvSpPr>
          <p:cNvPr id="56" name="55 CuadroTexto"/>
          <p:cNvSpPr txBox="1"/>
          <p:nvPr/>
        </p:nvSpPr>
        <p:spPr>
          <a:xfrm>
            <a:off x="2044164" y="2592586"/>
            <a:ext cx="818446" cy="4513224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spc="-300" dirty="0">
                <a:latin typeface="EPSON 太行書体Ｂ" pitchFamily="65" charset="-128"/>
                <a:ea typeface="EPSON 太行書体Ｂ" pitchFamily="65" charset="-128"/>
              </a:rPr>
              <a:t>緑ベナルム道場</a:t>
            </a:r>
            <a:endParaRPr lang="es-VE" sz="4400" spc="-300" dirty="0">
              <a:latin typeface="EPSON 太行書体Ｂ" pitchFamily="65" charset="-128"/>
              <a:ea typeface="EPSON 太行書体Ｂ" pitchFamily="6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764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9362</TotalTime>
  <Words>158</Words>
  <Application>Microsoft Office PowerPoint</Application>
  <PresentationFormat>Personalizado</PresentationFormat>
  <Paragraphs>23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Company>Luffi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OGKV</dc:title>
  <dc:creator>César Velásquez</dc:creator>
  <dc:description/>
  <cp:lastModifiedBy>CD y JM</cp:lastModifiedBy>
  <cp:revision>567</cp:revision>
  <cp:lastPrinted>2025-12-20T03:06:34Z</cp:lastPrinted>
  <dcterms:created xsi:type="dcterms:W3CDTF">2009-07-25T14:43:43Z</dcterms:created>
  <dcterms:modified xsi:type="dcterms:W3CDTF">2026-03-03T13:31:55Z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Certificado OGKV</vt:lpwstr>
  </property>
  <property fmtid="{D5CDD505-2E9C-101B-9397-08002B2CF9AE}" pid="3" name="SlideDescription">
    <vt:lpwstr/>
  </property>
</Properties>
</file>